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5486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5400" b="1">
                <a:solidFill>
                  <a:srgbClr val="F3F4F6"/>
                </a:solidFill>
                <a:latin typeface="Segoe UI"/>
              </a:defRPr>
            </a:pPr>
            <a:r>
              <a:t>GPS Indoor Mapper</a:t>
            </a:r>
          </a:p>
          <a:p>
            <a:pPr>
              <a:defRPr sz="3200" b="1">
                <a:solidFill>
                  <a:srgbClr val="3B82F6"/>
                </a:solidFill>
                <a:latin typeface="Segoe UI"/>
              </a:defRPr>
            </a:pPr>
            <a:r>
              <a:t>&amp; Real-Time Crowd Traffic Analyzer</a:t>
            </a:r>
          </a:p>
          <a:p>
            <a:pPr>
              <a:spcBef>
                <a:spcPts val="3000"/>
              </a:spcBef>
              <a:defRPr sz="1800">
                <a:solidFill>
                  <a:srgbClr val="9CA3AF"/>
                </a:solidFill>
                <a:latin typeface="Segoe UI"/>
              </a:defRPr>
            </a:pPr>
            <a:r>
              <a:t>Project Specifications &amp; Technology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Segoe UI"/>
              </a:defRPr>
            </a:pPr>
            <a:r>
              <a:t>Presently Enabled Features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All built-in mapping, editing, and routing capabilities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291840" cy="384048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  <a:latin typeface="Segoe UI"/>
              </a:defRPr>
            </a:pPr>
            <a:r>
              <a:t>Indoor Map Editor</a:t>
            </a:r>
          </a:p>
          <a:p>
            <a:pPr>
              <a:spcBef>
                <a:spcPts val="1600"/>
              </a:spcBef>
              <a:defRPr sz="1400">
                <a:solidFill>
                  <a:srgbClr val="F3F4F6"/>
                </a:solidFill>
                <a:latin typeface="Segoe UI"/>
              </a:defRPr>
            </a:pPr>
            <a:r>
              <a:t>Draw boundaries, rooms, walls, windows, and doors. Persistent storage via browser's localStorage.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828800"/>
            <a:ext cx="3291840" cy="384048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09159" y="210312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  <a:latin typeface="Segoe UI"/>
              </a:defRPr>
            </a:pPr>
            <a:r>
              <a:t>A* Wayfinder Engine</a:t>
            </a:r>
          </a:p>
          <a:p>
            <a:pPr>
              <a:spcBef>
                <a:spcPts val="1600"/>
              </a:spcBef>
              <a:defRPr sz="1400">
                <a:solidFill>
                  <a:srgbClr val="F3F4F6"/>
                </a:solidFill>
                <a:latin typeface="Segoe UI"/>
              </a:defRPr>
            </a:pPr>
            <a:r>
              <a:t>Real-time shortest path indoor routing across doors and multiple floor levels (elevators/stairs).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3291840" cy="384048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2103120"/>
            <a:ext cx="2834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B82F6"/>
                </a:solidFill>
                <a:latin typeface="Segoe UI"/>
              </a:defRPr>
            </a:pPr>
            <a:r>
              <a:t>Crowd Simulation &amp; HUD</a:t>
            </a:r>
          </a:p>
          <a:p>
            <a:pPr>
              <a:spcBef>
                <a:spcPts val="1600"/>
              </a:spcBef>
              <a:defRPr sz="1400">
                <a:solidFill>
                  <a:srgbClr val="F3F4F6"/>
                </a:solidFill>
                <a:latin typeface="Segoe UI"/>
              </a:defRPr>
            </a:pPr>
            <a:r>
              <a:t>Spawns 65 crowd agents moving along schedules (classes, study, lunch breaks) with time-of-day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Segoe UI"/>
              </a:defRPr>
            </a:pPr>
            <a:r>
              <a:t>Technical Specifications &amp; Technologies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Frameworks, libraries, and mathematical solvers utilized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F59E0B"/>
                </a:solidFill>
                <a:latin typeface="Segoe UI"/>
              </a:defRPr>
            </a:pPr>
            <a:r>
              <a:t>CORE ARCHITECTURE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Languages: HTML5 markup, CSS3 styling variables, ES6+ JavaScript logic.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Map Rendering: Leaflet JS (v1.9.4) interactive vector mapping framework.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Occupancy Telemetry: Sidebar directory badges displaying live occupant counts for rooms.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Design Tokens: Glassmorphic effects, harmonized CSS variables, FontAwesome v6.4.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828800"/>
            <a:ext cx="502920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 b="1">
                <a:solidFill>
                  <a:srgbClr val="3B82F6"/>
                </a:solidFill>
                <a:latin typeface="Segoe UI"/>
              </a:defRPr>
            </a:pPr>
            <a:r>
              <a:t>ALGORITHMIC MECHANICS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A* Shortest Path Routing: Calculates grid coordinates (80x80) around drawn wall obstacles and boundaries.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Ray-Casting PIP Solver: Calculates whether user or agent coordinates are inside room boundaries for occupancy counts.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EMA Signal Filter: Exponential Moving Average smoothing to eliminate mobile GPS coordinate jitter.</a:t>
            </a:r>
          </a:p>
          <a:p>
            <a:pPr>
              <a:spcBef>
                <a:spcPts val="1200"/>
              </a:spcBef>
              <a:defRPr sz="1300">
                <a:solidFill>
                  <a:srgbClr val="F3F4F6"/>
                </a:solidFill>
                <a:latin typeface="Segoe UI"/>
              </a:defRPr>
            </a:pPr>
            <a:r>
              <a:t>•  Rejection Sampling: Generates realistic agent wandering coordinates inside irregular room shapes.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Segoe UI"/>
              </a:defRPr>
            </a:pPr>
            <a:r>
              <a:t>Real-Time Tracking &amp; WebSocket Integration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Connecting physical hardware feeds to the Leaflet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600">
                <a:solidFill>
                  <a:srgbClr val="F3F4F6"/>
                </a:solidFill>
                <a:latin typeface="Segoe UI"/>
              </a:defRPr>
            </a:pPr>
            <a:r>
              <a:t>A flexible, high-performance WebSocket interface allows you to toggle between simulation and live camera tracking:</a:t>
            </a:r>
          </a:p>
          <a:p>
            <a:pPr>
              <a:spcBef>
                <a:spcPts val="1400"/>
              </a:spcBef>
              <a:defRPr sz="1400" b="1">
                <a:solidFill>
                  <a:srgbClr val="F3F4F6"/>
                </a:solidFill>
                <a:latin typeface="Segoe UI"/>
              </a:defRPr>
            </a:pPr>
            <a:r>
              <a:rPr>
                <a:solidFill>
                  <a:srgbClr val="3B82F6"/>
                </a:solidFill>
              </a:rPr>
              <a:t>•  Native WebSockets Connection:  Uses secure `wss://` protocols, eliminating external dependencies. Paste in your server's endpoint directly in the map HUD.</a:t>
            </a:r>
          </a:p>
          <a:p>
            <a:pPr>
              <a:spcBef>
                <a:spcPts val="1400"/>
              </a:spcBef>
              <a:defRPr sz="1400" b="1">
                <a:solidFill>
                  <a:srgbClr val="F3F4F6"/>
                </a:solidFill>
                <a:latin typeface="Segoe UI"/>
              </a:defRPr>
            </a:pPr>
            <a:r>
              <a:rPr>
                <a:solidFill>
                  <a:srgbClr val="3B82F6"/>
                </a:solidFill>
              </a:rPr>
              <a:t>•  Real-time Data Mapping:  Streams coordinate arrays from cameras to update occupant directories without Wi-Fi dependency.</a:t>
            </a:r>
          </a:p>
          <a:p>
            <a:pPr>
              <a:spcBef>
                <a:spcPts val="1400"/>
              </a:spcBef>
              <a:defRPr sz="1400" b="1">
                <a:solidFill>
                  <a:srgbClr val="F3F4F6"/>
                </a:solidFill>
                <a:latin typeface="Segoe UI"/>
              </a:defRPr>
            </a:pPr>
            <a:r>
              <a:rPr>
                <a:solidFill>
                  <a:srgbClr val="3B82F6"/>
                </a:solidFill>
              </a:rPr>
              <a:t>•  Calculated Client-side Occupancies:  The browser automatically processes coordinates against drawn room boundaries using our Ray-Casting solver to update directories immediately.</a:t>
            </a:r>
          </a:p>
          <a:p>
            <a:pPr>
              <a:spcBef>
                <a:spcPts val="1400"/>
              </a:spcBef>
              <a:defRPr sz="1400" b="1">
                <a:solidFill>
                  <a:srgbClr val="F3F4F6"/>
                </a:solidFill>
                <a:latin typeface="Segoe UI"/>
              </a:defRPr>
            </a:pPr>
            <a:r>
              <a:rPr>
                <a:solidFill>
                  <a:srgbClr val="3B82F6"/>
                </a:solidFill>
              </a:rPr>
              <a:t>•  Zero-Dependency Bridge Server:  Includes `server.js` running Node.js HTTP/WebSocket to aggregate and broadcast coordinate data from Python camera scripts.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Segoe UI"/>
              </a:defRPr>
            </a:pPr>
            <a:r>
              <a:t>DensePose Vision Tracking Architecture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Tracking crowds anonymously without Wi-Fi dependencies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68880" cy="34747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Segoe UI"/>
              </a:defRPr>
            </a:pPr>
            <a:r>
              <a:t>1. Vision Feed</a:t>
            </a:r>
          </a:p>
          <a:p>
            <a:pPr>
              <a:spcBef>
                <a:spcPts val="1400"/>
              </a:spcBef>
              <a:defRPr sz="1250">
                <a:solidFill>
                  <a:srgbClr val="F3F4F6"/>
                </a:solidFill>
                <a:latin typeface="Segoe UI"/>
              </a:defRPr>
            </a:pPr>
            <a:r>
              <a:t>Overhead cameras stream RGB video feeds of hallways &amp; rooms.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011680"/>
            <a:ext cx="2468880" cy="34747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228600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2. DensePose AI</a:t>
            </a:r>
          </a:p>
          <a:p>
            <a:pPr>
              <a:spcBef>
                <a:spcPts val="1400"/>
              </a:spcBef>
              <a:defRPr sz="1250">
                <a:solidFill>
                  <a:srgbClr val="F3F4F6"/>
                </a:solidFill>
                <a:latin typeface="Segoe UI"/>
              </a:defRPr>
            </a:pPr>
            <a:r>
              <a:t>Processes frames via Detectron2 to extract foot contacts.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468880" cy="34747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28600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  <a:latin typeface="Segoe UI"/>
              </a:defRPr>
            </a:pPr>
            <a:r>
              <a:t>3. Homography</a:t>
            </a:r>
          </a:p>
          <a:p>
            <a:pPr>
              <a:spcBef>
                <a:spcPts val="1400"/>
              </a:spcBef>
              <a:defRPr sz="1250">
                <a:solidFill>
                  <a:srgbClr val="F3F4F6"/>
                </a:solidFill>
                <a:latin typeface="Segoe UI"/>
              </a:defRPr>
            </a:pPr>
            <a:r>
              <a:t>Transforms pixel (x,y) to map (lat,lng) using OpenCV.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011680"/>
            <a:ext cx="2468880" cy="3474720"/>
          </a:xfrm>
          <a:prstGeom prst="roundRect">
            <a:avLst/>
          </a:prstGeom>
          <a:solidFill>
            <a:srgbClr val="1C1C23"/>
          </a:solidFill>
          <a:ln w="19050">
            <a:solidFill>
              <a:srgbClr val="3C3C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228600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Segoe UI"/>
              </a:defRPr>
            </a:pPr>
            <a:r>
              <a:t>4. WS Stream</a:t>
            </a:r>
          </a:p>
          <a:p>
            <a:pPr>
              <a:spcBef>
                <a:spcPts val="1400"/>
              </a:spcBef>
              <a:defRPr sz="1250">
                <a:solidFill>
                  <a:srgbClr val="F3F4F6"/>
                </a:solidFill>
                <a:latin typeface="Segoe UI"/>
              </a:defRPr>
            </a:pPr>
            <a:r>
              <a:t>Pushes mapped coordinates to Leaflet UI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3600" b="1">
                <a:solidFill>
                  <a:srgbClr val="3B82F6"/>
                </a:solidFill>
                <a:latin typeface="Segoe UI"/>
              </a:defRPr>
            </a:pPr>
            <a:r>
              <a:t>Production Deployment Blueprint</a:t>
            </a:r>
          </a:p>
          <a:p>
            <a:pPr>
              <a:spcBef>
                <a:spcPts val="400"/>
              </a:spcBef>
              <a:defRPr sz="1400">
                <a:solidFill>
                  <a:srgbClr val="9CA3AF"/>
                </a:solidFill>
                <a:latin typeface="Segoe UI"/>
              </a:defRPr>
            </a:pPr>
            <a:r>
              <a:t>How to host the system globally for web and mobile clients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500">
                <a:solidFill>
                  <a:srgbClr val="F3F4F6"/>
                </a:solidFill>
                <a:latin typeface="Segoe UI"/>
              </a:defRPr>
            </a:pPr>
            <a:r>
              <a:t>To deploy the system globally, the frontend and backend are hosted on specialized, optimized platforms:</a:t>
            </a:r>
          </a:p>
          <a:p>
            <a:pPr>
              <a:spcBef>
                <a:spcPts val="1800"/>
              </a:spcBef>
              <a:defRPr sz="1350" b="1">
                <a:solidFill>
                  <a:srgbClr val="F3F4F6"/>
                </a:solidFill>
                <a:latin typeface="Segoe UI"/>
              </a:defRPr>
            </a:pPr>
            <a:r>
              <a:rPr>
                <a:solidFill>
                  <a:srgbClr val="3B82F6"/>
                </a:solidFill>
              </a:rPr>
              <a:t>•  Frontend: Vercel (Free / Static):  Hosts index.html, style.css, and app.js. Connects to your GitHub repository for continuous integration and serves pages securely over global CDNs.</a:t>
            </a:r>
          </a:p>
          <a:p>
            <a:pPr>
              <a:spcBef>
                <a:spcPts val="1800"/>
              </a:spcBef>
              <a:defRPr sz="1350" b="1">
                <a:solidFill>
                  <a:srgbClr val="F3F4F6"/>
                </a:solidFill>
                <a:latin typeface="Segoe UI"/>
              </a:defRPr>
            </a:pPr>
            <a:r>
              <a:rPr>
                <a:solidFill>
                  <a:srgbClr val="3B82F6"/>
                </a:solidFill>
              </a:rPr>
              <a:t>•  Backend Bridge: Render / Railway (PaaS):  Hosts the WebSocket server (server.js). Always-on processes allow permanent connections. Converts incoming HTTP streams into secure wss:// endpoints.</a:t>
            </a:r>
          </a:p>
          <a:p>
            <a:pPr>
              <a:spcBef>
                <a:spcPts val="1800"/>
              </a:spcBef>
              <a:defRPr sz="1350" b="1">
                <a:solidFill>
                  <a:srgbClr val="F3F4F6"/>
                </a:solidFill>
                <a:latin typeface="Segoe UI"/>
              </a:defRPr>
            </a:pPr>
            <a:r>
              <a:rPr>
                <a:solidFill>
                  <a:srgbClr val="F59E0B"/>
                </a:solidFill>
              </a:rPr>
              <a:t>•  Alternative Serverless: Firebase SDK:  Uses Firebase Realtime Database. Your Python camera script pushes coordinates straight to Firebase, and Leaflet uses the SDK to listen to changes, removing the Node.js server requirement.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